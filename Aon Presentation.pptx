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294" r:id="rId5"/>
    <p:sldId id="277" r:id="rId6"/>
    <p:sldId id="295" r:id="rId7"/>
    <p:sldId id="298" r:id="rId8"/>
    <p:sldId id="297" r:id="rId9"/>
    <p:sldId id="262" r:id="rId10"/>
    <p:sldId id="29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2156"/>
    <a:srgbClr val="385E8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DE23F3-AFA5-440C-93B0-5781032B8BEC}" v="55" dt="2026-02-27T01:16:40.556"/>
  </p1510:revLst>
</p1510:revInfo>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77318" autoAdjust="0"/>
  </p:normalViewPr>
  <p:slideViewPr>
    <p:cSldViewPr snapToGrid="0">
      <p:cViewPr varScale="1">
        <p:scale>
          <a:sx n="79" d="100"/>
          <a:sy n="79" d="100"/>
        </p:scale>
        <p:origin x="1672" y="184"/>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sz="1000" dirty="0"/>
              <a:t>Consolidated</a:t>
            </a:r>
            <a:r>
              <a:rPr lang="en-GB" sz="1000" baseline="0" dirty="0"/>
              <a:t> revenue from contracts with </a:t>
            </a:r>
            <a:r>
              <a:rPr lang="en-GB" sz="1000" baseline="0" dirty="0" err="1"/>
              <a:t>cuatomers</a:t>
            </a:r>
            <a:r>
              <a:rPr lang="en-GB" sz="1000" baseline="0" dirty="0"/>
              <a:t> by geographic area, which is attributed on the basis of where the services are performed (in millions)(Year ended 31 December 2025)</a:t>
            </a:r>
            <a:endParaRPr lang="en-GB" sz="1000" dirty="0"/>
          </a:p>
        </c:rich>
      </c:tx>
      <c:layout>
        <c:manualLayout>
          <c:xMode val="edge"/>
          <c:yMode val="edge"/>
          <c:x val="9.9455406133134153E-2"/>
          <c:y val="0"/>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GB"/>
        </a:p>
      </c:txPr>
    </c:title>
    <c:autoTitleDeleted val="0"/>
    <c:plotArea>
      <c:layout>
        <c:manualLayout>
          <c:layoutTarget val="inner"/>
          <c:xMode val="edge"/>
          <c:yMode val="edge"/>
          <c:x val="0.40490806070535512"/>
          <c:y val="0.24112365891016407"/>
          <c:w val="0.55199347435068169"/>
          <c:h val="0.54181213162370245"/>
        </c:manualLayout>
      </c:layout>
      <c:barChart>
        <c:barDir val="bar"/>
        <c:grouping val="stacked"/>
        <c:varyColors val="0"/>
        <c:ser>
          <c:idx val="0"/>
          <c:order val="0"/>
          <c:tx>
            <c:strRef>
              <c:f>Sheet1!$D$5</c:f>
              <c:strCache>
                <c:ptCount val="1"/>
                <c:pt idx="0">
                  <c:v>Human Capital $</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Sheet1!$C$6:$C$13</c:f>
              <c:strCache>
                <c:ptCount val="8"/>
                <c:pt idx="0">
                  <c:v>U.S.</c:v>
                </c:pt>
                <c:pt idx="1">
                  <c:v>Americas other than U.S.</c:v>
                </c:pt>
                <c:pt idx="2">
                  <c:v>U.K.</c:v>
                </c:pt>
                <c:pt idx="3">
                  <c:v>Ireland</c:v>
                </c:pt>
                <c:pt idx="4">
                  <c:v>Europe, Middle East, Africa other than U.K. and Ireland</c:v>
                </c:pt>
                <c:pt idx="5">
                  <c:v>Asia Pacific</c:v>
                </c:pt>
                <c:pt idx="7">
                  <c:v>Total Revenue</c:v>
                </c:pt>
              </c:strCache>
            </c:strRef>
          </c:cat>
          <c:val>
            <c:numRef>
              <c:f>Sheet1!$D$6:$D$13</c:f>
              <c:numCache>
                <c:formatCode>General</c:formatCode>
                <c:ptCount val="8"/>
                <c:pt idx="0">
                  <c:v>3304</c:v>
                </c:pt>
                <c:pt idx="1">
                  <c:v>502</c:v>
                </c:pt>
                <c:pt idx="2">
                  <c:v>811</c:v>
                </c:pt>
                <c:pt idx="3">
                  <c:v>90</c:v>
                </c:pt>
                <c:pt idx="4">
                  <c:v>832</c:v>
                </c:pt>
                <c:pt idx="5">
                  <c:v>368</c:v>
                </c:pt>
                <c:pt idx="7">
                  <c:v>5907</c:v>
                </c:pt>
              </c:numCache>
            </c:numRef>
          </c:val>
          <c:extLst>
            <c:ext xmlns:c16="http://schemas.microsoft.com/office/drawing/2014/chart" uri="{C3380CC4-5D6E-409C-BE32-E72D297353CC}">
              <c16:uniqueId val="{00000000-4114-4FB7-82F2-30BCE263C707}"/>
            </c:ext>
          </c:extLst>
        </c:ser>
        <c:ser>
          <c:idx val="1"/>
          <c:order val="1"/>
          <c:tx>
            <c:strRef>
              <c:f>Sheet1!$E$5</c:f>
              <c:strCache>
                <c:ptCount val="1"/>
                <c:pt idx="0">
                  <c:v>Corporate Eliminations $</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Sheet1!$C$6:$C$13</c:f>
              <c:strCache>
                <c:ptCount val="8"/>
                <c:pt idx="0">
                  <c:v>U.S.</c:v>
                </c:pt>
                <c:pt idx="1">
                  <c:v>Americas other than U.S.</c:v>
                </c:pt>
                <c:pt idx="2">
                  <c:v>U.K.</c:v>
                </c:pt>
                <c:pt idx="3">
                  <c:v>Ireland</c:v>
                </c:pt>
                <c:pt idx="4">
                  <c:v>Europe, Middle East, Africa other than U.K. and Ireland</c:v>
                </c:pt>
                <c:pt idx="5">
                  <c:v>Asia Pacific</c:v>
                </c:pt>
                <c:pt idx="7">
                  <c:v>Total Revenue</c:v>
                </c:pt>
              </c:strCache>
            </c:strRef>
          </c:cat>
          <c:val>
            <c:numRef>
              <c:f>Sheet1!$E$6:$E$13</c:f>
              <c:numCache>
                <c:formatCode>General</c:formatCode>
                <c:ptCount val="8"/>
                <c:pt idx="0">
                  <c:v>-16</c:v>
                </c:pt>
                <c:pt idx="7">
                  <c:v>-16</c:v>
                </c:pt>
              </c:numCache>
            </c:numRef>
          </c:val>
          <c:extLst>
            <c:ext xmlns:c16="http://schemas.microsoft.com/office/drawing/2014/chart" uri="{C3380CC4-5D6E-409C-BE32-E72D297353CC}">
              <c16:uniqueId val="{00000001-4114-4FB7-82F2-30BCE263C707}"/>
            </c:ext>
          </c:extLst>
        </c:ser>
        <c:ser>
          <c:idx val="2"/>
          <c:order val="2"/>
          <c:tx>
            <c:strRef>
              <c:f>Sheet1!$F$5</c:f>
              <c:strCache>
                <c:ptCount val="1"/>
                <c:pt idx="0">
                  <c:v>Risk Capital $</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Sheet1!$C$6:$C$13</c:f>
              <c:strCache>
                <c:ptCount val="8"/>
                <c:pt idx="0">
                  <c:v>U.S.</c:v>
                </c:pt>
                <c:pt idx="1">
                  <c:v>Americas other than U.S.</c:v>
                </c:pt>
                <c:pt idx="2">
                  <c:v>U.K.</c:v>
                </c:pt>
                <c:pt idx="3">
                  <c:v>Ireland</c:v>
                </c:pt>
                <c:pt idx="4">
                  <c:v>Europe, Middle East, Africa other than U.K. and Ireland</c:v>
                </c:pt>
                <c:pt idx="5">
                  <c:v>Asia Pacific</c:v>
                </c:pt>
                <c:pt idx="7">
                  <c:v>Total Revenue</c:v>
                </c:pt>
              </c:strCache>
            </c:strRef>
          </c:cat>
          <c:val>
            <c:numRef>
              <c:f>Sheet1!$F$6:$F$13</c:f>
              <c:numCache>
                <c:formatCode>General</c:formatCode>
                <c:ptCount val="8"/>
                <c:pt idx="0">
                  <c:v>4991</c:v>
                </c:pt>
                <c:pt idx="1">
                  <c:v>1131</c:v>
                </c:pt>
                <c:pt idx="2">
                  <c:v>1409</c:v>
                </c:pt>
                <c:pt idx="3">
                  <c:v>95</c:v>
                </c:pt>
                <c:pt idx="4">
                  <c:v>2321</c:v>
                </c:pt>
                <c:pt idx="5">
                  <c:v>1343</c:v>
                </c:pt>
                <c:pt idx="7">
                  <c:v>11290</c:v>
                </c:pt>
              </c:numCache>
            </c:numRef>
          </c:val>
          <c:extLst>
            <c:ext xmlns:c16="http://schemas.microsoft.com/office/drawing/2014/chart" uri="{C3380CC4-5D6E-409C-BE32-E72D297353CC}">
              <c16:uniqueId val="{00000002-4114-4FB7-82F2-30BCE263C707}"/>
            </c:ext>
          </c:extLst>
        </c:ser>
        <c:dLbls>
          <c:dLblPos val="ctr"/>
          <c:showLegendKey val="0"/>
          <c:showVal val="1"/>
          <c:showCatName val="0"/>
          <c:showSerName val="0"/>
          <c:showPercent val="0"/>
          <c:showBubbleSize val="0"/>
        </c:dLbls>
        <c:gapWidth val="150"/>
        <c:overlap val="100"/>
        <c:axId val="22814719"/>
        <c:axId val="22812319"/>
      </c:barChart>
      <c:catAx>
        <c:axId val="22814719"/>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2812319"/>
        <c:crosses val="autoZero"/>
        <c:auto val="1"/>
        <c:lblAlgn val="ctr"/>
        <c:lblOffset val="100"/>
        <c:noMultiLvlLbl val="0"/>
      </c:catAx>
      <c:valAx>
        <c:axId val="22812319"/>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28147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4/10/26</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08:04.637"/>
    </inkml:context>
    <inkml:brush xml:id="br0">
      <inkml:brushProperty name="width" value="0.05" units="cm"/>
      <inkml:brushProperty name="height" value="0.05" units="cm"/>
      <inkml:brushProperty name="color" value="#ED1C24"/>
    </inkml:brush>
  </inkml:definitions>
  <inkml:trace contextRef="#ctx0" brushRef="#br0">917 1 856,'0'0'0,"0"0"-16,0 0 16,0 0 16,0 0 0,0 0 24,0 0 16,0 0 0,0 0 16,0 0 32,0 0-16,0 0-536,0 0 992,0 0-448,0 0-16,0 0 0,0 0-880,0 0 1680,-2 1-792,1-1-16,1 0 16,-2 1-88,0 0 120,1 0-24,-1 1 8,-1 0 24,1-1-128,1-1 112,-4 2 8,2-1-8,-2 3 8,2-3-120,1-1 104,1 2 0,-6 1 24,-6-1-56,11-1-72,0-1 88,-11 3-24,8-1-16,-8 0-24,10-1-24,1-1-8,-14 2 0,4-2 0,5 0 0,-4 0 8,3 0 24,-6 0-8,1 0-16,-3 0 16,8 0-16,0 0 32,-8 0 0,-3 0-16,3 0 0,7-2-16,0 1 8,-5 1-32,-4 0 56,-3-4-8,14 4-24,-2 0 0,-10-3 8,2 3 0,1-3 8,8 3-16,0 0-8,-8 0 40,-2 0-24,5 0-8,7 0 0,-2 0 24,-10 0 0,4 0-32,-2 0 24,8 0-16,0 0 24,-5 0-16,0 0-24,-1 2 8,6-2 8,0 1 8,-8 1-24,1 1 48,-1-1-8,14-2-24,0 1-8,-14 1 8,1-1 0,10 1-24,-2-1 24,-3 0-32,5 2 16,-11 0 24,10-1-8,-1-2 0,-1 1 0,-5 1 0,9-1-40,-11 1-16,12-1 56,0 1-72,-10 0-48,7-1-80,-7-1-56,10 1 256,-1 0-320,-10-1-80,9 0-48,-12 0 48,2 0 88,1-3 112,-2 0 120,-2-10-784,18 13 864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08:10.542"/>
    </inkml:context>
    <inkml:brush xml:id="br0">
      <inkml:brushProperty name="width" value="0.05" units="cm"/>
      <inkml:brushProperty name="height" value="0.05" units="cm"/>
      <inkml:brushProperty name="color" value="#ED1C24"/>
    </inkml:brush>
  </inkml:definitions>
  <inkml:trace contextRef="#ctx0" brushRef="#br0">0 7 5257,'0'0'0,"0"0"1280,0 0-1208,0 0-72,0 0-40,4 0-248,-4 0-208,0 0-168,0-1 664,0-1-729,0 2 41,0 0-40,0 0 104,0 0 624,0 0-456,0-3 144,0 3 184,0 0 88,-1 0 40,0 0-1408,1 0 1408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08:11.727"/>
    </inkml:context>
    <inkml:brush xml:id="br0">
      <inkml:brushProperty name="width" value="0.05" units="cm"/>
      <inkml:brushProperty name="height" value="0.05" units="cm"/>
      <inkml:brushProperty name="color" value="#ED1C24"/>
    </inkml:brush>
  </inkml:definitions>
  <inkml:trace contextRef="#ctx0" brushRef="#br0">1 11 5281,'0'0'0,"0"0"1088,0 0-1088,5 0 0,-1-4-144,0 6-176,-1-2-176,-3 0 496,0 0-632,0 2-33,0-1 17,0-1 24,0 0 80,0-3 136,-2-2 144,1 5 128,1 0 136,-2-3-1480,2 3 1480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4/10/26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I’ve chose to focus on the US as they are the biggest customer of insurance </a:t>
            </a:r>
          </a:p>
        </p:txBody>
      </p:sp>
      <p:sp>
        <p:nvSpPr>
          <p:cNvPr id="4" name="Slide Number Placeholder 3"/>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highlight>
                  <a:srgbClr val="FFFF00"/>
                </a:highlight>
              </a:rPr>
              <a:t>I believe the US’s withdrawal from global leadership in trade will greatly impact the next decade of insurance. Replacing a predictable, western dominated trade system with a volatile multipolar system. We have seen tariffs erode trade with their partners: spiking inflation, devaluing their currency, and pushing allies to seek certainty in alternative partners. Thus, resetting relations and working towards multilateralism.</a:t>
            </a:r>
          </a:p>
          <a:p>
            <a:endParaRPr lang="en-GB" dirty="0">
              <a:highlight>
                <a:srgbClr val="FFFF00"/>
              </a:highlight>
            </a:endParaRPr>
          </a:p>
          <a:p>
            <a:r>
              <a:rPr lang="en-GB" dirty="0">
                <a:highlight>
                  <a:srgbClr val="FFFF00"/>
                </a:highlight>
              </a:rPr>
              <a:t>The resulting fragmentation caused by the US’ withdrawal position is a sign of great risk for insurers because US tariffs have caused the cost of imports to rise, leading to subsequent increase in building material costs, manufacturing costs, energy costs as seen in the graph a rise that many insurers’ premiums may not account for, forcing the insurance industry to rely on </a:t>
            </a:r>
            <a:r>
              <a:rPr lang="en-GB" b="1" dirty="0">
                <a:highlight>
                  <a:srgbClr val="FFFF00"/>
                </a:highlight>
              </a:rPr>
              <a:t>reactive risk transfer</a:t>
            </a:r>
            <a:r>
              <a:rPr lang="en-GB" dirty="0">
                <a:highlight>
                  <a:srgbClr val="FFFF00"/>
                </a:highlight>
              </a:rPr>
              <a:t> (paying for losses) less and to lean  </a:t>
            </a:r>
            <a:r>
              <a:rPr lang="en-GB" b="1" dirty="0">
                <a:highlight>
                  <a:srgbClr val="FFFF00"/>
                </a:highlight>
              </a:rPr>
              <a:t>proactive strategic resilience</a:t>
            </a:r>
            <a:r>
              <a:rPr lang="en-GB" dirty="0">
                <a:highlight>
                  <a:srgbClr val="FFFF00"/>
                </a:highlight>
              </a:rPr>
              <a:t> (modelling geopolitical fragmentation as a core business cost).</a:t>
            </a:r>
            <a:endParaRPr lang="en-US" dirty="0">
              <a:highlight>
                <a:srgbClr val="FFFF00"/>
              </a:highlight>
            </a:endParaRPr>
          </a:p>
          <a:p>
            <a:endParaRPr lang="en-US" dirty="0">
              <a:solidFill>
                <a:schemeClr val="accent2">
                  <a:lumMod val="40000"/>
                  <a:lumOff val="60000"/>
                </a:schemeClr>
              </a:solidFill>
              <a:highlight>
                <a:srgbClr val="FFFF00"/>
              </a:highlight>
            </a:endParaRPr>
          </a:p>
        </p:txBody>
      </p:sp>
      <p:sp>
        <p:nvSpPr>
          <p:cNvPr id="4" name="Slide Number Placeholder 3"/>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2769560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1FCCA-B65A-BBAF-7B02-E15D8B5C4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D52BA-20CA-B1B4-FFEB-7156BDE5A91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45FD61B-269B-622E-408C-BD45CF877768}"/>
              </a:ext>
            </a:extLst>
          </p:cNvPr>
          <p:cNvSpPr>
            <a:spLocks noGrp="1"/>
          </p:cNvSpPr>
          <p:nvPr>
            <p:ph type="body" idx="1"/>
          </p:nvPr>
        </p:nvSpPr>
        <p:spPr/>
        <p:txBody>
          <a:bodyPr/>
          <a:lstStyle/>
          <a:p>
            <a:pPr marL="0" marR="0" lvl="0" indent="0" algn="l" defTabSz="914400" rtl="0" eaLnBrk="1" fontAlgn="auto" latinLnBrk="0" hangingPunct="1">
              <a:lnSpc>
                <a:spcPts val="2000"/>
              </a:lnSpc>
              <a:spcBef>
                <a:spcPts val="0"/>
              </a:spcBef>
              <a:spcAft>
                <a:spcPts val="1200"/>
              </a:spcAft>
              <a:buClrTx/>
              <a:buSzTx/>
              <a:buFont typeface="Arial" panose="020B0604020202020204" pitchFamily="34" charset="0"/>
              <a:buNone/>
              <a:tabLst/>
              <a:defRPr/>
            </a:pPr>
            <a:r>
              <a:rPr kumimoji="0" lang="en-GB" sz="1200" b="1" i="0" u="none" strike="noStrike" kern="1200" cap="none" spc="0" normalizeH="0" baseline="0" noProof="0" dirty="0">
                <a:ln>
                  <a:noFill/>
                </a:ln>
                <a:solidFill>
                  <a:prstClr val="black"/>
                </a:solidFill>
                <a:effectLst/>
                <a:uLnTx/>
                <a:uFillTx/>
                <a:latin typeface="Avenir Next LT Pro"/>
                <a:ea typeface="+mn-ea"/>
                <a:cs typeface="+mn-cs"/>
              </a:rPr>
              <a:t>Primary Consequences:</a:t>
            </a:r>
          </a:p>
          <a:p>
            <a:pPr marL="0" marR="0" lvl="0" indent="0" algn="l" defTabSz="914400" rtl="0" eaLnBrk="1" fontAlgn="auto" latinLnBrk="0" hangingPunct="1">
              <a:lnSpc>
                <a:spcPts val="2000"/>
              </a:lnSpc>
              <a:spcBef>
                <a:spcPts val="0"/>
              </a:spcBef>
              <a:spcAft>
                <a:spcPts val="1200"/>
              </a:spcAft>
              <a:buClrTx/>
              <a:buSzTx/>
              <a:buFont typeface="Arial" panose="020B0604020202020204" pitchFamily="34" charset="0"/>
              <a:buNone/>
              <a:tabLst/>
              <a:defRPr/>
            </a:pPr>
            <a:r>
              <a:rPr kumimoji="0" lang="en-GB" sz="1200" b="0" i="0" u="none" strike="noStrike" kern="1200" cap="none" spc="0" normalizeH="0" baseline="0" noProof="0" dirty="0">
                <a:ln>
                  <a:noFill/>
                </a:ln>
                <a:solidFill>
                  <a:prstClr val="black"/>
                </a:solidFill>
                <a:effectLst/>
                <a:uLnTx/>
                <a:uFillTx/>
                <a:latin typeface="Avenir Next LT Pro"/>
                <a:ea typeface="+mn-ea"/>
                <a:cs typeface="+mn-cs"/>
              </a:rPr>
              <a:t>Reserve deterioration, </a:t>
            </a:r>
            <a:r>
              <a:rPr kumimoji="0" lang="en-GB" sz="1200" b="0" i="0" u="none" strike="noStrike" kern="1200" cap="none" spc="0" normalizeH="0" baseline="0" noProof="0" dirty="0">
                <a:ln>
                  <a:noFill/>
                </a:ln>
                <a:solidFill>
                  <a:prstClr val="black"/>
                </a:solidFill>
                <a:effectLst/>
                <a:highlight>
                  <a:srgbClr val="808000"/>
                </a:highlight>
                <a:uLnTx/>
                <a:uFillTx/>
                <a:latin typeface="Avenir Next LT Pro"/>
                <a:ea typeface="+mn-ea"/>
                <a:cs typeface="+mn-cs"/>
              </a:rPr>
              <a:t>occurring when funds originally set aside for future claims prove insufficient due to rising construction and medical costs. </a:t>
            </a:r>
            <a:r>
              <a:rPr kumimoji="0" lang="en-GB" sz="1200" b="0" i="0" u="none" strike="noStrike" kern="1200" cap="none" spc="0" normalizeH="0" baseline="0" noProof="0" dirty="0">
                <a:ln>
                  <a:noFill/>
                </a:ln>
                <a:solidFill>
                  <a:prstClr val="black"/>
                </a:solidFill>
                <a:effectLst/>
                <a:uLnTx/>
                <a:uFillTx/>
                <a:latin typeface="Avenir Next LT Pro"/>
                <a:ea typeface="+mn-ea"/>
                <a:cs typeface="+mn-cs"/>
              </a:rPr>
              <a:t>In the US especially, this is exacerbated by extreme verdicts and unstable liability severity trends that outpace standard economic inflation. This forces insurers to divert current capital to top up old reserves, creating significant model risk and capital strain for long-tail casualty lines.</a:t>
            </a:r>
          </a:p>
          <a:p>
            <a:pPr marL="0" marR="0" lvl="0" indent="0" algn="l" defTabSz="914400" rtl="0" eaLnBrk="1" fontAlgn="auto" latinLnBrk="0" hangingPunct="1">
              <a:lnSpc>
                <a:spcPts val="2000"/>
              </a:lnSpc>
              <a:spcBef>
                <a:spcPts val="0"/>
              </a:spcBef>
              <a:spcAft>
                <a:spcPts val="12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prstClr val="black"/>
              </a:solidFill>
              <a:effectLst/>
              <a:uLnTx/>
              <a:uFillTx/>
              <a:latin typeface="Avenir Next LT Pro"/>
              <a:ea typeface="+mn-ea"/>
              <a:cs typeface="+mn-cs"/>
            </a:endParaRPr>
          </a:p>
          <a:p>
            <a:pPr marL="0" marR="0" lvl="0" indent="0" algn="l" defTabSz="914400" rtl="0" eaLnBrk="1" fontAlgn="auto" latinLnBrk="0" hangingPunct="1">
              <a:lnSpc>
                <a:spcPts val="2000"/>
              </a:lnSpc>
              <a:spcBef>
                <a:spcPts val="0"/>
              </a:spcBef>
              <a:spcAft>
                <a:spcPts val="120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Avenir Next LT Pro"/>
                <a:ea typeface="+mn-ea"/>
                <a:cs typeface="+mn-cs"/>
              </a:rPr>
              <a:t>The intersection of global instability and trade wars has forced insurance companies to navigate a fragmented landscape where "regulatory islands" replace unified global standards, creating significantly less efficient supply chains. As the US retreats from its role as a stable source of certainty, insurers must adapt to diverse jurisdictional rules for trade, carbon emissions, and insurance requirements that change at every border. This shifting environment introduces structural inefficiencies, such as the double squeeze where weakening local currencies drive up the costs of imported repair materials and USD denominated reinsurance. </a:t>
            </a:r>
          </a:p>
          <a:p>
            <a:endParaRPr lang="en-US" dirty="0"/>
          </a:p>
        </p:txBody>
      </p:sp>
      <p:sp>
        <p:nvSpPr>
          <p:cNvPr id="4" name="Slide Number Placeholder 3">
            <a:extLst>
              <a:ext uri="{FF2B5EF4-FFF2-40B4-BE49-F238E27FC236}">
                <a16:creationId xmlns:a16="http://schemas.microsoft.com/office/drawing/2014/main" id="{F2F374DC-51E2-9D9F-029B-4BC227147D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895658-EA1F-4910-80AB-4DA76E167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4332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Dynamic Indexing &amp; Predictive Modeling</a:t>
            </a:r>
            <a:r>
              <a:rPr lang="en-US" dirty="0">
                <a:solidFill>
                  <a:schemeClr val="bg1"/>
                </a:solidFill>
                <a:highlight>
                  <a:srgbClr val="808000"/>
                </a:highlight>
              </a:rPr>
              <a:t>: Use AI-driven analytics to identify shifts in loss development triangles early, allowing for incremental premium adjustments that prevent massive "catch-up" reserve shocks.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Structured Retrocession</a:t>
            </a:r>
            <a:r>
              <a:rPr lang="en-US" dirty="0">
                <a:solidFill>
                  <a:schemeClr val="bg1"/>
                </a:solidFill>
                <a:highlight>
                  <a:srgbClr val="808000"/>
                </a:highlight>
              </a:rPr>
              <a:t>: Locking in multi-year reinsurance costs to hedge against the volatility of the "hard market" and ensure long-term solvency.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1"/>
              </a:solidFill>
              <a:highlight>
                <a:srgbClr val="8080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Localised Jurisdictional Frameworks</a:t>
            </a:r>
            <a:r>
              <a:rPr lang="en-US" dirty="0">
                <a:solidFill>
                  <a:schemeClr val="bg1"/>
                </a:solidFill>
                <a:highlight>
                  <a:srgbClr val="808000"/>
                </a:highlight>
              </a:rPr>
              <a:t>: Developing bespoke compliance and insurance programs that adapt to specific regional rules for carbon, trade, and labor, rather than relying on a failing "one-size-fits-all" global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1"/>
              </a:solidFill>
              <a:highlight>
                <a:srgbClr val="8080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highlight>
                  <a:srgbClr val="808000"/>
                </a:highlight>
              </a:rPr>
              <a:t>Leveraging new regional certainties—such as the Canada-China trade deal to diversify risk away from US-centric volatility and diversify export portfolios for agricultural and industrial clients.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chemeClr val="bg1"/>
              </a:solidFill>
              <a:highlight>
                <a:srgbClr val="808000"/>
              </a:highlight>
            </a:endParaRPr>
          </a:p>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5</a:t>
            </a:fld>
            <a:endParaRPr lang="en-US" dirty="0"/>
          </a:p>
        </p:txBody>
      </p:sp>
    </p:spTree>
    <p:extLst>
      <p:ext uri="{BB962C8B-B14F-4D97-AF65-F5344CB8AC3E}">
        <p14:creationId xmlns:p14="http://schemas.microsoft.com/office/powerpoint/2010/main" val="2909667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sz="1200" dirty="0"/>
              <a:t>​Inaccurate Predictive Modeling: AI-driven early warning systems are only as good as the historical data they ingest; sudden, unprecedented "imported" inflationary shocks are difficult to quantify and may still bypass even the most advanced regulatory frameworks.​</a:t>
            </a:r>
          </a:p>
          <a:p>
            <a:endParaRPr lang="en-US" sz="1200" dirty="0"/>
          </a:p>
          <a:p>
            <a:r>
              <a:rPr lang="en-US" sz="1200" dirty="0"/>
              <a:t>High Operational Complexity: Navigating "regulatory islands" creates a heavy operational and capital burden, as insurers must maintain specialized compliance teams for every jurisdiction rather than utilizing efficient global standards</a:t>
            </a:r>
          </a:p>
          <a:p>
            <a:endParaRPr lang="en-US" sz="1200" dirty="0"/>
          </a:p>
          <a:p>
            <a:r>
              <a:rPr lang="en-US" sz="1200" dirty="0"/>
              <a:t>​Capital Availability in Hard Markets: While sidecars and alternative capital provide a buffer, these sources of funding often dry up or become prohibitively expensive during the very periods of global instability they are meant to solve for.​</a:t>
            </a:r>
          </a:p>
          <a:p>
            <a:endParaRPr lang="en-US" sz="1200" dirty="0"/>
          </a:p>
          <a:p>
            <a:r>
              <a:rPr lang="en-US" sz="1200" dirty="0"/>
              <a:t>Real-term Value Loss: Despite hedging strategies, when reserves are held in local currencies while tracking USD-linked inflation, firms face a real-term loss of reserve value that can threaten overall solvency regardless of strategic positioning.​</a:t>
            </a:r>
          </a:p>
          <a:p>
            <a:endParaRPr lang="en-US" sz="1200" dirty="0"/>
          </a:p>
          <a:p>
            <a:r>
              <a:rPr lang="en-US" sz="1200" dirty="0"/>
              <a:t>Ambiguity in War and Sanctions: As seen in the Ukraine conflict, global instability leads to ambiguity in war exclusions and protracted reinsurance disputes, making it difficult to guarantee payouts for "proactive" supply chain products. (Link to tariffs, us hostility, </a:t>
            </a:r>
            <a:r>
              <a:rPr lang="en-US" sz="1200" dirty="0" err="1"/>
              <a:t>greenland</a:t>
            </a:r>
            <a:r>
              <a:rPr lang="en-US" sz="1200" dirty="0"/>
              <a:t>)</a:t>
            </a:r>
          </a:p>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1306333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1E4B-6744-A014-8D01-FB6E82748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121A3-3C3F-F78A-4DA3-D4BE2589DCC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0A0D3BA-1C29-73D6-DD94-C93CA87242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917347-671B-4641-5588-FE5FD11CE946}"/>
              </a:ext>
            </a:extLst>
          </p:cNvPr>
          <p:cNvSpPr>
            <a:spLocks noGrp="1"/>
          </p:cNvSpPr>
          <p:nvPr>
            <p:ph type="sldNum" sz="quarter" idx="5"/>
          </p:nvPr>
        </p:nvSpPr>
        <p:spPr/>
        <p:txBody>
          <a:bodyPr/>
          <a:lstStyle/>
          <a:p>
            <a:fld id="{10895658-EA1F-4910-80AB-4DA76E167475}" type="slidenum">
              <a:rPr lang="en-US" smtClean="0"/>
              <a:t>7</a:t>
            </a:fld>
            <a:endParaRPr lang="en-US" dirty="0"/>
          </a:p>
        </p:txBody>
      </p:sp>
    </p:spTree>
    <p:extLst>
      <p:ext uri="{BB962C8B-B14F-4D97-AF65-F5344CB8AC3E}">
        <p14:creationId xmlns:p14="http://schemas.microsoft.com/office/powerpoint/2010/main" val="25321075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sv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30.png"/><Relationship Id="rId5" Type="http://schemas.openxmlformats.org/officeDocument/2006/relationships/customXml" Target="../ink/ink2.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6449786" cy="2785508"/>
          </a:xfrm>
        </p:spPr>
        <p:txBody>
          <a:bodyPr anchor="b">
            <a:normAutofit/>
          </a:bodyPr>
          <a:lstStyle/>
          <a:p>
            <a:r>
              <a:rPr lang="en-GB" sz="3700" dirty="0"/>
              <a:t>A Major development GREATLY impacting insurance IN THE NEXT DECADE</a:t>
            </a:r>
            <a:endParaRPr lang="en-US" sz="3700" dirty="0"/>
          </a:p>
        </p:txBody>
      </p:sp>
      <p:sp>
        <p:nvSpPr>
          <p:cNvPr id="3" name="TextBox 2">
            <a:extLst>
              <a:ext uri="{FF2B5EF4-FFF2-40B4-BE49-F238E27FC236}">
                <a16:creationId xmlns:a16="http://schemas.microsoft.com/office/drawing/2014/main" id="{7126D690-A528-A29E-DFBF-4091C150AA3D}"/>
              </a:ext>
            </a:extLst>
          </p:cNvPr>
          <p:cNvSpPr txBox="1"/>
          <p:nvPr/>
        </p:nvSpPr>
        <p:spPr>
          <a:xfrm>
            <a:off x="4974772" y="3373686"/>
            <a:ext cx="6449785" cy="1029586"/>
          </a:xfrm>
          <a:prstGeom prst="rect">
            <a:avLst/>
          </a:prstGeom>
        </p:spPr>
        <p:txBody>
          <a:bodyPr vert="horz" lIns="91440" tIns="45720" rIns="91440" bIns="45720" rtlCol="0">
            <a:normAutofit/>
          </a:bodyPr>
          <a:lstStyle/>
          <a:p>
            <a:pPr>
              <a:spcAft>
                <a:spcPts val="1200"/>
              </a:spcAft>
            </a:pPr>
            <a:r>
              <a:rPr lang="en-US" sz="2400" kern="1200" dirty="0">
                <a:solidFill>
                  <a:schemeClr val="tx2"/>
                </a:solidFill>
              </a:rPr>
              <a:t>Presented by</a:t>
            </a:r>
          </a:p>
          <a:p>
            <a:pPr>
              <a:spcAft>
                <a:spcPts val="1200"/>
              </a:spcAft>
            </a:pPr>
            <a:r>
              <a:rPr lang="en-US" sz="2400" kern="1200" dirty="0">
                <a:solidFill>
                  <a:schemeClr val="tx2"/>
                </a:solidFill>
              </a:rPr>
              <a:t>Morgan Maurice Jordan-Ferguson</a:t>
            </a:r>
          </a:p>
        </p:txBody>
      </p:sp>
      <p:sp>
        <p:nvSpPr>
          <p:cNvPr id="8" name="Slide Number Placeholder 3">
            <a:extLst>
              <a:ext uri="{FF2B5EF4-FFF2-40B4-BE49-F238E27FC236}">
                <a16:creationId xmlns:a16="http://schemas.microsoft.com/office/drawing/2014/main" id="{06DB6B65-E3D6-0B65-BBF1-6A52F0E7521B}"/>
              </a:ext>
            </a:extLst>
          </p:cNvPr>
          <p:cNvSpPr>
            <a:spLocks noGrp="1"/>
          </p:cNvSpPr>
          <p:nvPr>
            <p:ph type="sldNum" sz="quarter" idx="12"/>
          </p:nvPr>
        </p:nvSpPr>
        <p:spPr>
          <a:xfrm>
            <a:off x="11123295" y="6352847"/>
            <a:ext cx="457200" cy="365125"/>
          </a:xfrm>
        </p:spPr>
        <p:txBody>
          <a:bodyPr/>
          <a:lstStyle/>
          <a:p>
            <a:pPr>
              <a:spcAft>
                <a:spcPts val="600"/>
              </a:spcAft>
            </a:pPr>
            <a:fld id="{B5CEABB6-07DC-46E8-9B57-56EC44A396E5}" type="slidenum">
              <a:rPr lang="en-US" smtClean="0"/>
              <a:pPr>
                <a:spcAft>
                  <a:spcPts val="600"/>
                </a:spcAft>
              </a:pPr>
              <a:t>1</a:t>
            </a:fld>
            <a:endParaRPr lang="en-US"/>
          </a:p>
        </p:txBody>
      </p:sp>
    </p:spTree>
    <p:extLst>
      <p:ext uri="{BB962C8B-B14F-4D97-AF65-F5344CB8AC3E}">
        <p14:creationId xmlns:p14="http://schemas.microsoft.com/office/powerpoint/2010/main" val="3133891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4862031" y="367816"/>
            <a:ext cx="6343650" cy="2668463"/>
          </a:xfrm>
        </p:spPr>
        <p:txBody>
          <a:bodyPr>
            <a:normAutofit/>
          </a:bodyPr>
          <a:lstStyle/>
          <a:p>
            <a:r>
              <a:rPr lang="en-US" dirty="0"/>
              <a:t>Focus: </a:t>
            </a:r>
            <a:r>
              <a:rPr lang="en-GB" dirty="0"/>
              <a:t>The US’ contribution to inflation in insurance</a:t>
            </a:r>
            <a:endParaRPr lang="en-ZA" dirty="0"/>
          </a:p>
        </p:txBody>
      </p:sp>
      <p:sp>
        <p:nvSpPr>
          <p:cNvPr id="3" name="Subtitle 2">
            <a:extLst>
              <a:ext uri="{FF2B5EF4-FFF2-40B4-BE49-F238E27FC236}">
                <a16:creationId xmlns:a16="http://schemas.microsoft.com/office/drawing/2014/main" id="{35E3EA69-4E0E-41BD-8095-A124225A2647}"/>
              </a:ext>
            </a:extLst>
          </p:cNvPr>
          <p:cNvSpPr>
            <a:spLocks noGrp="1"/>
          </p:cNvSpPr>
          <p:nvPr>
            <p:ph sz="half" idx="14"/>
          </p:nvPr>
        </p:nvSpPr>
        <p:spPr>
          <a:xfrm>
            <a:off x="4933950" y="3429000"/>
            <a:ext cx="6338887" cy="2319551"/>
          </a:xfrm>
        </p:spPr>
        <p:txBody>
          <a:bodyPr>
            <a:normAutofit fontScale="92500" lnSpcReduction="20000"/>
          </a:bodyPr>
          <a:lstStyle/>
          <a:p>
            <a:r>
              <a:rPr lang="en-US" dirty="0"/>
              <a:t>Introduction</a:t>
            </a:r>
          </a:p>
          <a:p>
            <a:r>
              <a:rPr lang="en-US" dirty="0"/>
              <a:t>The </a:t>
            </a:r>
            <a:r>
              <a:rPr lang="en-GB" dirty="0"/>
              <a:t>Challenges</a:t>
            </a:r>
            <a:endParaRPr lang="en-US" dirty="0"/>
          </a:p>
          <a:p>
            <a:r>
              <a:rPr lang="en-US" dirty="0"/>
              <a:t>The </a:t>
            </a:r>
            <a:r>
              <a:rPr lang="en-GB" dirty="0"/>
              <a:t>Solution</a:t>
            </a:r>
            <a:endParaRPr lang="en-US" dirty="0"/>
          </a:p>
          <a:p>
            <a:r>
              <a:rPr lang="en-GB" dirty="0"/>
              <a:t>Limitations</a:t>
            </a:r>
          </a:p>
          <a:p>
            <a:r>
              <a:rPr lang="en-GB"/>
              <a:t>References</a:t>
            </a:r>
            <a:endParaRPr lang="en-US" dirty="0"/>
          </a:p>
        </p:txBody>
      </p:sp>
      <p:sp>
        <p:nvSpPr>
          <p:cNvPr id="6" name="Slide Number Placeholder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162730" y="561900"/>
            <a:ext cx="9866540" cy="1358140"/>
          </a:xfrm>
        </p:spPr>
        <p:txBody>
          <a:bodyPr anchor="t">
            <a:normAutofit/>
          </a:bodyPr>
          <a:lstStyle/>
          <a:p>
            <a:r>
              <a:rPr lang="en-US" dirty="0"/>
              <a:t>Introduction</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sz="half" idx="15"/>
          </p:nvPr>
        </p:nvSpPr>
        <p:spPr>
          <a:xfrm>
            <a:off x="1083708" y="1603951"/>
            <a:ext cx="5012292" cy="3984049"/>
          </a:xfrm>
        </p:spPr>
        <p:txBody>
          <a:bodyPr vert="horz" lIns="91440" tIns="45720" rIns="91440" bIns="45720" rtlCol="0">
            <a:normAutofit fontScale="85000" lnSpcReduction="10000"/>
          </a:bodyPr>
          <a:lstStyle/>
          <a:p>
            <a:r>
              <a:rPr lang="en-GB" dirty="0"/>
              <a:t>I believe the US’s withdrawal from global leadership in trade will greatly impact the next decade of insurance.</a:t>
            </a:r>
          </a:p>
          <a:p>
            <a:pPr marL="285750" indent="-285750">
              <a:buFont typeface="Arial" panose="020B0604020202020204" pitchFamily="34" charset="0"/>
              <a:buChar char="•"/>
            </a:pPr>
            <a:r>
              <a:rPr lang="en-GB" dirty="0"/>
              <a:t>Replacing a predictable, western dominated trade system with a volatile multipolar system.</a:t>
            </a:r>
          </a:p>
          <a:p>
            <a:pPr marL="285750" indent="-285750">
              <a:buFont typeface="Arial" panose="020B0604020202020204" pitchFamily="34" charset="0"/>
              <a:buChar char="•"/>
            </a:pPr>
            <a:r>
              <a:rPr lang="en-GB" dirty="0"/>
              <a:t>Thus, resetting relations between nations and working towards multilateralism.</a:t>
            </a:r>
          </a:p>
          <a:p>
            <a:pPr marL="285750" indent="-285750">
              <a:buFont typeface="Arial" panose="020B0604020202020204" pitchFamily="34" charset="0"/>
              <a:buChar char="•"/>
            </a:pPr>
            <a:endParaRPr lang="en-GB" dirty="0"/>
          </a:p>
          <a:p>
            <a:r>
              <a:rPr lang="en-GB" dirty="0"/>
              <a:t>The resulting fragmentation caused by the US’ withdrawal position is a sign of great risk for insurers because US tariffs have caused the cost of imports to rise, leading to subsequent increase in building material costs, manufacturing costs, energy costs as seen in the graph a rise that many insurers’ premiums may not account for, forcing the insurance industry to rely on </a:t>
            </a:r>
            <a:r>
              <a:rPr lang="en-GB" b="1" dirty="0"/>
              <a:t>reactive risk transfer</a:t>
            </a:r>
            <a:r>
              <a:rPr lang="en-GB" dirty="0"/>
              <a:t> (paying for losses) less and to lean  </a:t>
            </a:r>
            <a:r>
              <a:rPr lang="en-GB" b="1" dirty="0"/>
              <a:t>proactive strategic resilience</a:t>
            </a:r>
            <a:r>
              <a:rPr lang="en-GB" dirty="0"/>
              <a:t> (modelling geopolitical fragmentation as a core business cost).</a:t>
            </a:r>
            <a:endParaRPr lang="en-US" dirty="0">
              <a:highlight>
                <a:srgbClr val="FFFF00"/>
              </a:highlight>
            </a:endParaRPr>
          </a:p>
        </p:txBody>
      </p:sp>
      <p:sp>
        <p:nvSpPr>
          <p:cNvPr id="6" name="Slide Number Placeholder 5">
            <a:extLst>
              <a:ext uri="{FF2B5EF4-FFF2-40B4-BE49-F238E27FC236}">
                <a16:creationId xmlns:a16="http://schemas.microsoft.com/office/drawing/2014/main" id="{A4AC050D-BAF4-C23C-F8EC-24DEC4293002}"/>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smtClean="0"/>
              <a:pPr>
                <a:spcAft>
                  <a:spcPts val="600"/>
                </a:spcAft>
              </a:pPr>
              <a:t>3</a:t>
            </a:fld>
            <a:endParaRPr lang="en-US"/>
          </a:p>
        </p:txBody>
      </p:sp>
      <p:pic>
        <p:nvPicPr>
          <p:cNvPr id="8" name="Picture 7" descr="A diagram of a diagram with red circles">
            <a:extLst>
              <a:ext uri="{FF2B5EF4-FFF2-40B4-BE49-F238E27FC236}">
                <a16:creationId xmlns:a16="http://schemas.microsoft.com/office/drawing/2014/main" id="{D4D0E13E-925D-5E21-7480-90072DEE869E}"/>
              </a:ext>
            </a:extLst>
          </p:cNvPr>
          <p:cNvPicPr>
            <a:picLocks noChangeAspect="1"/>
          </p:cNvPicPr>
          <p:nvPr/>
        </p:nvPicPr>
        <p:blipFill>
          <a:blip r:embed="rId3"/>
          <a:srcRect l="3131" t="7040" r="2544" b="6580"/>
          <a:stretch>
            <a:fillRect/>
          </a:stretch>
        </p:blipFill>
        <p:spPr>
          <a:xfrm>
            <a:off x="6366932" y="3429000"/>
            <a:ext cx="5613541" cy="3287183"/>
          </a:xfrm>
          <a:prstGeom prst="rect">
            <a:avLst/>
          </a:prstGeom>
        </p:spPr>
      </p:pic>
      <p:graphicFrame>
        <p:nvGraphicFramePr>
          <p:cNvPr id="10" name="Chart 9">
            <a:extLst>
              <a:ext uri="{FF2B5EF4-FFF2-40B4-BE49-F238E27FC236}">
                <a16:creationId xmlns:a16="http://schemas.microsoft.com/office/drawing/2014/main" id="{C1FDAC88-D256-B1CE-8B26-2F36D60D303B}"/>
              </a:ext>
            </a:extLst>
          </p:cNvPr>
          <p:cNvGraphicFramePr>
            <a:graphicFrameLocks/>
          </p:cNvGraphicFramePr>
          <p:nvPr>
            <p:extLst>
              <p:ext uri="{D42A27DB-BD31-4B8C-83A1-F6EECF244321}">
                <p14:modId xmlns:p14="http://schemas.microsoft.com/office/powerpoint/2010/main" val="1514405633"/>
              </p:ext>
            </p:extLst>
          </p:nvPr>
        </p:nvGraphicFramePr>
        <p:xfrm>
          <a:off x="6366932" y="0"/>
          <a:ext cx="5613541" cy="34237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3382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171B9-8F51-0C41-0CEF-4525A60FAA2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5516C6-CE30-FFCB-5246-BD9F024BC6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dirty="0">
              <a:ln>
                <a:noFill/>
              </a:ln>
              <a:solidFill>
                <a:prstClr val="black"/>
              </a:solidFill>
              <a:effectLst/>
              <a:uLnTx/>
              <a:uFillTx/>
              <a:latin typeface="Avenir Next LT Pro"/>
              <a:ea typeface="+mn-ea"/>
              <a:cs typeface="+mn-cs"/>
            </a:endParaRPr>
          </a:p>
        </p:txBody>
      </p:sp>
      <p:sp>
        <p:nvSpPr>
          <p:cNvPr id="15" name="TextBox 14">
            <a:extLst>
              <a:ext uri="{FF2B5EF4-FFF2-40B4-BE49-F238E27FC236}">
                <a16:creationId xmlns:a16="http://schemas.microsoft.com/office/drawing/2014/main" id="{D5EF8EAF-B982-3611-120C-47A15E21808A}"/>
              </a:ext>
            </a:extLst>
          </p:cNvPr>
          <p:cNvSpPr txBox="1"/>
          <p:nvPr/>
        </p:nvSpPr>
        <p:spPr>
          <a:xfrm>
            <a:off x="158044" y="97612"/>
            <a:ext cx="6096000" cy="707886"/>
          </a:xfrm>
          <a:prstGeom prst="rect">
            <a:avLst/>
          </a:prstGeom>
          <a:noFill/>
        </p:spPr>
        <p:txBody>
          <a:bodyPr wrap="square">
            <a:spAutoFit/>
          </a:bodyPr>
          <a:lstStyle/>
          <a:p>
            <a:r>
              <a:rPr kumimoji="0" lang="en-US" sz="4000" b="1" i="0" u="none" strike="noStrike" kern="1200" cap="all" spc="0" normalizeH="0" baseline="0" noProof="0" dirty="0">
                <a:ln>
                  <a:noFill/>
                </a:ln>
                <a:solidFill>
                  <a:srgbClr val="224E7F"/>
                </a:solidFill>
                <a:effectLst/>
                <a:uLnTx/>
                <a:uFillTx/>
                <a:latin typeface="Avenir Next LT Pro"/>
                <a:ea typeface="+mj-ea"/>
                <a:cs typeface="+mj-cs"/>
              </a:rPr>
              <a:t>The </a:t>
            </a:r>
            <a:r>
              <a:rPr kumimoji="0" lang="en-GB" sz="4000" b="1" i="0" u="none" strike="noStrike" kern="1200" cap="all" spc="0" normalizeH="0" baseline="0" noProof="0" dirty="0">
                <a:ln>
                  <a:noFill/>
                </a:ln>
                <a:solidFill>
                  <a:srgbClr val="224E7F"/>
                </a:solidFill>
                <a:effectLst/>
                <a:uLnTx/>
                <a:uFillTx/>
                <a:latin typeface="Avenir Next LT Pro"/>
                <a:ea typeface="+mj-ea"/>
                <a:cs typeface="+mj-cs"/>
              </a:rPr>
              <a:t>Challenges</a:t>
            </a:r>
            <a:endParaRPr lang="en-GB" dirty="0"/>
          </a:p>
        </p:txBody>
      </p:sp>
      <p:sp>
        <p:nvSpPr>
          <p:cNvPr id="19" name="TextBox 18">
            <a:extLst>
              <a:ext uri="{FF2B5EF4-FFF2-40B4-BE49-F238E27FC236}">
                <a16:creationId xmlns:a16="http://schemas.microsoft.com/office/drawing/2014/main" id="{E212A28B-F20C-53CE-A172-3F538FEBEBE0}"/>
              </a:ext>
            </a:extLst>
          </p:cNvPr>
          <p:cNvSpPr txBox="1"/>
          <p:nvPr/>
        </p:nvSpPr>
        <p:spPr>
          <a:xfrm>
            <a:off x="137048" y="805498"/>
            <a:ext cx="6974952" cy="2682401"/>
          </a:xfrm>
          <a:prstGeom prst="rect">
            <a:avLst/>
          </a:prstGeom>
          <a:noFill/>
        </p:spPr>
        <p:txBody>
          <a:bodyPr wrap="square">
            <a:spAutoFit/>
          </a:bodyPr>
          <a:lstStyle/>
          <a:p>
            <a:pPr lvl="0">
              <a:lnSpc>
                <a:spcPts val="2000"/>
              </a:lnSpc>
              <a:spcAft>
                <a:spcPts val="1200"/>
              </a:spcAft>
              <a:defRPr/>
            </a:pPr>
            <a:r>
              <a:rPr lang="en-US" sz="1200" dirty="0">
                <a:solidFill>
                  <a:prstClr val="black"/>
                </a:solidFill>
                <a:latin typeface="Avenir Next LT Pro"/>
              </a:rPr>
              <a:t>The US’ isolation is a source of great uncertainty</a:t>
            </a: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 for its allies </a:t>
            </a:r>
            <a:r>
              <a:rPr kumimoji="0" lang="en-GB" sz="1200" b="0" i="0" u="none" strike="noStrike" kern="1200" cap="none" spc="0" normalizeH="0" baseline="0" noProof="0" dirty="0">
                <a:ln>
                  <a:noFill/>
                </a:ln>
                <a:solidFill>
                  <a:prstClr val="black"/>
                </a:solidFill>
                <a:effectLst/>
                <a:uLnTx/>
                <a:uFillTx/>
                <a:latin typeface="Avenir Next LT Pro"/>
                <a:ea typeface="+mn-ea"/>
                <a:cs typeface="+mn-cs"/>
              </a:rPr>
              <a:t>and </a:t>
            </a:r>
            <a:r>
              <a:rPr lang="en-GB" sz="1200" dirty="0">
                <a:solidFill>
                  <a:prstClr val="black"/>
                </a:solidFill>
              </a:rPr>
              <a:t>the uncertainty in US market (the largest market for insurance) around their tariff policy </a:t>
            </a:r>
            <a:r>
              <a:rPr kumimoji="0" lang="en-GB" sz="1200" b="0" i="0" u="none" strike="noStrike" kern="1200" cap="none" spc="0" normalizeH="0" baseline="0" noProof="0" dirty="0">
                <a:ln>
                  <a:noFill/>
                </a:ln>
                <a:solidFill>
                  <a:prstClr val="black"/>
                </a:solidFill>
                <a:effectLst/>
                <a:uLnTx/>
                <a:uFillTx/>
                <a:latin typeface="Avenir Next LT Pro"/>
                <a:ea typeface="+mn-ea"/>
                <a:cs typeface="+mn-cs"/>
              </a:rPr>
              <a:t>has spread to all its trading partners.</a:t>
            </a:r>
          </a:p>
          <a:p>
            <a:pPr>
              <a:lnSpc>
                <a:spcPts val="2000"/>
              </a:lnSpc>
              <a:spcAft>
                <a:spcPts val="1200"/>
              </a:spcAft>
              <a:defRPr/>
            </a:pPr>
            <a:r>
              <a:rPr lang="en-GB" sz="1200" dirty="0"/>
              <a:t>With new regional partners, insurers can no longer assume alignment with established US frameworks. Navigating these 'regulatory islands' without sufficient historical data precludes a traditional reactive approach, creating significant model risk beyond reactive risk transfer toward a model of proactive strategic resilience to protect overall solvency.</a:t>
            </a:r>
            <a:endParaRPr kumimoji="0" lang="en-GB" sz="1200" b="0" i="0" u="none" strike="noStrike" kern="1200" cap="none" spc="0" normalizeH="0" baseline="0" noProof="0" dirty="0">
              <a:ln>
                <a:noFill/>
              </a:ln>
              <a:solidFill>
                <a:prstClr val="black"/>
              </a:solidFill>
              <a:effectLst/>
              <a:uLnTx/>
              <a:uFillTx/>
              <a:latin typeface="Avenir Next LT Pro"/>
              <a:ea typeface="+mn-ea"/>
              <a:cs typeface="+mn-cs"/>
            </a:endParaRPr>
          </a:p>
          <a:p>
            <a:pPr marL="0" marR="0" lvl="0" indent="0" algn="l" defTabSz="914400" rtl="0" eaLnBrk="1" fontAlgn="auto" latinLnBrk="0" hangingPunct="1">
              <a:lnSpc>
                <a:spcPts val="2000"/>
              </a:lnSpc>
              <a:spcBef>
                <a:spcPts val="0"/>
              </a:spcBef>
              <a:spcAft>
                <a:spcPts val="1200"/>
              </a:spcAft>
              <a:buClrTx/>
              <a:buSzTx/>
              <a:buFont typeface="Arial" panose="020B0604020202020204" pitchFamily="34" charset="0"/>
              <a:buNone/>
              <a:tabLst/>
              <a:defRPr/>
            </a:pPr>
            <a:r>
              <a:rPr lang="en-GB" sz="1200" dirty="0">
                <a:solidFill>
                  <a:prstClr val="black"/>
                </a:solidFill>
                <a:latin typeface="Avenir Next LT Pro"/>
              </a:rPr>
              <a:t>I</a:t>
            </a:r>
            <a:r>
              <a:rPr kumimoji="0" lang="en-GB" sz="1200" b="0" i="0" u="none" strike="noStrike" kern="1200" cap="none" spc="0" normalizeH="0" baseline="0" noProof="0" dirty="0" err="1">
                <a:ln>
                  <a:noFill/>
                </a:ln>
                <a:solidFill>
                  <a:prstClr val="black"/>
                </a:solidFill>
                <a:effectLst/>
                <a:uLnTx/>
                <a:uFillTx/>
                <a:latin typeface="Avenir Next LT Pro"/>
                <a:ea typeface="+mn-ea"/>
                <a:cs typeface="+mn-cs"/>
              </a:rPr>
              <a:t>nflation</a:t>
            </a:r>
            <a:r>
              <a:rPr kumimoji="0" lang="en-GB" sz="1200" b="0" i="0" u="none" strike="noStrike" kern="1200" cap="none" spc="0" normalizeH="0" baseline="0" noProof="0" dirty="0">
                <a:ln>
                  <a:noFill/>
                </a:ln>
                <a:solidFill>
                  <a:prstClr val="black"/>
                </a:solidFill>
                <a:effectLst/>
                <a:uLnTx/>
                <a:uFillTx/>
                <a:latin typeface="Avenir Next LT Pro"/>
                <a:ea typeface="+mn-ea"/>
                <a:cs typeface="+mn-cs"/>
              </a:rPr>
              <a:t> (which spiked with tariff announcements 2025) can be seen in chart 1, creating a few critical challenges for the insurance industry, including: claims inflation, higher retrocession costs, and uncertain loss development triangles which correlate to announcements of any tariffs in 2025</a:t>
            </a:r>
          </a:p>
        </p:txBody>
      </p:sp>
      <p:pic>
        <p:nvPicPr>
          <p:cNvPr id="20" name="Picture 19">
            <a:extLst>
              <a:ext uri="{FF2B5EF4-FFF2-40B4-BE49-F238E27FC236}">
                <a16:creationId xmlns:a16="http://schemas.microsoft.com/office/drawing/2014/main" id="{B71AF185-5CC5-BCC1-1BCD-734D71A1EA74}"/>
              </a:ext>
            </a:extLst>
          </p:cNvPr>
          <p:cNvPicPr>
            <a:picLocks noChangeAspect="1"/>
          </p:cNvPicPr>
          <p:nvPr/>
        </p:nvPicPr>
        <p:blipFill>
          <a:blip r:embed="rId3"/>
          <a:stretch>
            <a:fillRect/>
          </a:stretch>
        </p:blipFill>
        <p:spPr>
          <a:xfrm>
            <a:off x="0" y="3845722"/>
            <a:ext cx="6974952" cy="3012278"/>
          </a:xfrm>
          <a:prstGeom prst="rect">
            <a:avLst/>
          </a:prstGeom>
        </p:spPr>
      </p:pic>
      <p:sp>
        <p:nvSpPr>
          <p:cNvPr id="24" name="TextBox 23">
            <a:extLst>
              <a:ext uri="{FF2B5EF4-FFF2-40B4-BE49-F238E27FC236}">
                <a16:creationId xmlns:a16="http://schemas.microsoft.com/office/drawing/2014/main" id="{1A03F227-F7C5-6D12-D990-BF2A731D69E2}"/>
              </a:ext>
            </a:extLst>
          </p:cNvPr>
          <p:cNvSpPr txBox="1"/>
          <p:nvPr/>
        </p:nvSpPr>
        <p:spPr>
          <a:xfrm>
            <a:off x="7112000" y="288111"/>
            <a:ext cx="4758266" cy="6176884"/>
          </a:xfrm>
          <a:prstGeom prst="rect">
            <a:avLst/>
          </a:prstGeom>
          <a:noFill/>
        </p:spPr>
        <p:txBody>
          <a:bodyPr wrap="square">
            <a:spAutoFit/>
          </a:bodyPr>
          <a:lstStyle/>
          <a:p>
            <a:pPr marL="0" marR="0" lvl="0" indent="0" algn="l" defTabSz="914400" rtl="0" eaLnBrk="1" fontAlgn="auto" latinLnBrk="0" hangingPunct="1">
              <a:lnSpc>
                <a:spcPts val="2000"/>
              </a:lnSpc>
              <a:spcBef>
                <a:spcPts val="0"/>
              </a:spcBef>
              <a:spcAft>
                <a:spcPts val="120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solidFill>
                <a:effectLst/>
                <a:uLnTx/>
                <a:uFillTx/>
                <a:latin typeface="Avenir Next LT Pro"/>
                <a:ea typeface="+mn-ea"/>
                <a:cs typeface="+mn-cs"/>
              </a:rPr>
              <a:t>Primary Consequences:</a:t>
            </a:r>
          </a:p>
          <a:p>
            <a:pPr marR="0" lvl="0" algn="l" defTabSz="914400" rtl="0" eaLnBrk="1" fontAlgn="auto" latinLnBrk="0" hangingPunct="1">
              <a:lnSpc>
                <a:spcPts val="2000"/>
              </a:lnSpc>
              <a:spcBef>
                <a:spcPts val="0"/>
              </a:spcBef>
              <a:spcAft>
                <a:spcPts val="1200"/>
              </a:spcAft>
              <a:buClrTx/>
              <a:buSzTx/>
              <a:tabLst/>
              <a:defRPr/>
            </a:pP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Reserve deterioration                    </a:t>
            </a:r>
          </a:p>
          <a:p>
            <a:pPr marL="285750" marR="0" lvl="0" indent="-285750" algn="l" defTabSz="914400" rtl="0" eaLnBrk="1" fontAlgn="auto" latinLnBrk="0" hangingPunct="1">
              <a:lnSpc>
                <a:spcPts val="2000"/>
              </a:lnSpc>
              <a:spcBef>
                <a:spcPts val="0"/>
              </a:spcBef>
              <a:spcAft>
                <a:spcPts val="1200"/>
              </a:spcAft>
              <a:buClrTx/>
              <a:buSzTx/>
              <a:buFont typeface="Arial" panose="020B0604020202020204" pitchFamily="34" charset="0"/>
              <a:buChar char="•"/>
              <a:tabLst/>
              <a:defRPr/>
            </a:pPr>
            <a:r>
              <a:rPr lang="en-GB" sz="1400" dirty="0">
                <a:solidFill>
                  <a:prstClr val="black"/>
                </a:solidFill>
                <a:latin typeface="Avenir Next LT Pro"/>
              </a:rPr>
              <a:t>E</a:t>
            </a:r>
            <a:r>
              <a:rPr kumimoji="0" lang="en-GB" sz="1400" b="0" i="0" u="none" strike="noStrike" kern="1200" cap="none" spc="0" normalizeH="0" baseline="0" noProof="0" dirty="0" err="1">
                <a:ln>
                  <a:noFill/>
                </a:ln>
                <a:solidFill>
                  <a:prstClr val="black"/>
                </a:solidFill>
                <a:effectLst/>
                <a:uLnTx/>
                <a:uFillTx/>
                <a:latin typeface="Avenir Next LT Pro"/>
                <a:ea typeface="+mn-ea"/>
                <a:cs typeface="+mn-cs"/>
              </a:rPr>
              <a:t>xacerbated</a:t>
            </a: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 by extreme verdicts and unstable liability severity trends. </a:t>
            </a:r>
          </a:p>
          <a:p>
            <a:pPr marL="285750" marR="0" lvl="0" indent="-285750" algn="l" defTabSz="914400" rtl="0" eaLnBrk="1" fontAlgn="auto" latinLnBrk="0" hangingPunct="1">
              <a:lnSpc>
                <a:spcPts val="2000"/>
              </a:lnSpc>
              <a:spcBef>
                <a:spcPts val="0"/>
              </a:spcBef>
              <a:spcAft>
                <a:spcPts val="1200"/>
              </a:spcAft>
              <a:buClrTx/>
              <a:buSzTx/>
              <a:buFont typeface="Arial" panose="020B0604020202020204" pitchFamily="34" charset="0"/>
              <a:buChar char="•"/>
              <a:tabLst/>
              <a:defRPr/>
            </a:pPr>
            <a:r>
              <a:rPr lang="en-GB" sz="1400" dirty="0">
                <a:solidFill>
                  <a:prstClr val="black"/>
                </a:solidFill>
                <a:latin typeface="Avenir Next LT Pro"/>
              </a:rPr>
              <a:t>F</a:t>
            </a:r>
            <a:r>
              <a:rPr kumimoji="0" lang="en-GB" sz="1400" b="0" i="0" u="none" strike="noStrike" kern="1200" cap="none" spc="0" normalizeH="0" baseline="0" noProof="0" dirty="0" err="1">
                <a:ln>
                  <a:noFill/>
                </a:ln>
                <a:solidFill>
                  <a:prstClr val="black"/>
                </a:solidFill>
                <a:effectLst/>
                <a:uLnTx/>
                <a:uFillTx/>
                <a:latin typeface="Avenir Next LT Pro"/>
                <a:ea typeface="+mn-ea"/>
                <a:cs typeface="+mn-cs"/>
              </a:rPr>
              <a:t>orces</a:t>
            </a: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 insurers to top up old reserves, creating significant model risk and capital strain for long-tail casualty lines.</a:t>
            </a:r>
          </a:p>
          <a:p>
            <a:pPr marL="0" marR="0" lvl="0" indent="0" algn="l" defTabSz="914400" rtl="0" eaLnBrk="1" fontAlgn="auto" latinLnBrk="0" hangingPunct="1">
              <a:lnSpc>
                <a:spcPts val="2000"/>
              </a:lnSpc>
              <a:spcBef>
                <a:spcPts val="0"/>
              </a:spcBef>
              <a:spcAft>
                <a:spcPts val="120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Fragmented Landscapes</a:t>
            </a:r>
          </a:p>
          <a:p>
            <a:pPr marL="285750" marR="0" lvl="0" indent="-285750" algn="l" defTabSz="914400" rtl="0" eaLnBrk="1" fontAlgn="auto" latinLnBrk="0" hangingPunct="1">
              <a:lnSpc>
                <a:spcPts val="2000"/>
              </a:lnSpc>
              <a:spcBef>
                <a:spcPts val="0"/>
              </a:spcBef>
              <a:spcAft>
                <a:spcPts val="12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The intersection of global instability and trade wars creates significantly less efficient supply chains.</a:t>
            </a:r>
          </a:p>
          <a:p>
            <a:pPr marL="285750" marR="0" lvl="0" indent="-285750" algn="l" defTabSz="914400" rtl="0" eaLnBrk="1" fontAlgn="auto" latinLnBrk="0" hangingPunct="1">
              <a:lnSpc>
                <a:spcPts val="2000"/>
              </a:lnSpc>
              <a:spcBef>
                <a:spcPts val="0"/>
              </a:spcBef>
              <a:spcAft>
                <a:spcPts val="12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 As the US retreats from its role as a stable source of certainty, insurers must adapt to diverse jurisdictional rules for trade, carbon emissions, and insurance requirements that change at every border. </a:t>
            </a:r>
          </a:p>
          <a:p>
            <a:pPr marL="285750" marR="0" lvl="0" indent="-285750" algn="l" defTabSz="914400" rtl="0" eaLnBrk="1" fontAlgn="auto" latinLnBrk="0" hangingPunct="1">
              <a:lnSpc>
                <a:spcPts val="2000"/>
              </a:lnSpc>
              <a:spcBef>
                <a:spcPts val="0"/>
              </a:spcBef>
              <a:spcAft>
                <a:spcPts val="12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venir Next LT Pro"/>
                <a:ea typeface="+mn-ea"/>
                <a:cs typeface="+mn-cs"/>
              </a:rPr>
              <a:t>Introducing structural inefficiencies, such as the double squeeze where weakening local currencies drive up the costs of imported repair materials and USD denominated reinsurance. </a:t>
            </a:r>
          </a:p>
          <a:p>
            <a:pPr marL="0" marR="0" lvl="0" indent="0" algn="l" defTabSz="914400" rtl="0" eaLnBrk="1" fontAlgn="auto" latinLnBrk="0" hangingPunct="1">
              <a:lnSpc>
                <a:spcPts val="2000"/>
              </a:lnSpc>
              <a:spcBef>
                <a:spcPts val="0"/>
              </a:spcBef>
              <a:spcAft>
                <a:spcPts val="120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2082333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1045772" y="60427"/>
            <a:ext cx="8211450" cy="912188"/>
          </a:xfrm>
        </p:spPr>
        <p:txBody>
          <a:bodyPr anchor="t">
            <a:normAutofit/>
          </a:bodyPr>
          <a:lstStyle/>
          <a:p>
            <a:r>
              <a:rPr lang="en-GB" sz="3600" dirty="0"/>
              <a:t>The Solution</a:t>
            </a:r>
            <a:endParaRPr lang="en-US" sz="3600" dirty="0"/>
          </a:p>
        </p:txBody>
      </p:sp>
      <p:sp>
        <p:nvSpPr>
          <p:cNvPr id="14" name="Slide Number Placeholder 13">
            <a:extLst>
              <a:ext uri="{FF2B5EF4-FFF2-40B4-BE49-F238E27FC236}">
                <a16:creationId xmlns:a16="http://schemas.microsoft.com/office/drawing/2014/main" id="{F3DE1AA4-0AE6-C6D5-E252-BBD5ED259E32}"/>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smtClean="0"/>
              <a:pPr>
                <a:spcAft>
                  <a:spcPts val="600"/>
                </a:spcAft>
              </a:pPr>
              <a:t>5</a:t>
            </a:fld>
            <a:endParaRPr lang="en-US"/>
          </a:p>
        </p:txBody>
      </p:sp>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9CBE79A2-4029-F616-FE87-051E1E8DC253}"/>
                  </a:ext>
                </a:extLst>
              </p14:cNvPr>
              <p14:cNvContentPartPr/>
              <p14:nvPr/>
            </p14:nvContentPartPr>
            <p14:xfrm>
              <a:off x="11575743" y="3369237"/>
              <a:ext cx="330480" cy="22680"/>
            </p14:xfrm>
          </p:contentPart>
        </mc:Choice>
        <mc:Fallback xmlns="">
          <p:pic>
            <p:nvPicPr>
              <p:cNvPr id="31" name="Ink 30">
                <a:extLst>
                  <a:ext uri="{FF2B5EF4-FFF2-40B4-BE49-F238E27FC236}">
                    <a16:creationId xmlns:a16="http://schemas.microsoft.com/office/drawing/2014/main" id="{9CBE79A2-4029-F616-FE87-051E1E8DC253}"/>
                  </a:ext>
                </a:extLst>
              </p:cNvPr>
              <p:cNvPicPr/>
              <p:nvPr/>
            </p:nvPicPr>
            <p:blipFill>
              <a:blip r:embed="rId4"/>
              <a:stretch>
                <a:fillRect/>
              </a:stretch>
            </p:blipFill>
            <p:spPr>
              <a:xfrm>
                <a:off x="11566743" y="3360237"/>
                <a:ext cx="34812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6" name="Ink 35">
                <a:extLst>
                  <a:ext uri="{FF2B5EF4-FFF2-40B4-BE49-F238E27FC236}">
                    <a16:creationId xmlns:a16="http://schemas.microsoft.com/office/drawing/2014/main" id="{17C284DD-7D22-56DA-7205-68030C4E3FAC}"/>
                  </a:ext>
                </a:extLst>
              </p14:cNvPr>
              <p14:cNvContentPartPr/>
              <p14:nvPr/>
            </p14:nvContentPartPr>
            <p14:xfrm>
              <a:off x="7812663" y="3959997"/>
              <a:ext cx="1440" cy="2520"/>
            </p14:xfrm>
          </p:contentPart>
        </mc:Choice>
        <mc:Fallback xmlns="">
          <p:pic>
            <p:nvPicPr>
              <p:cNvPr id="36" name="Ink 35">
                <a:extLst>
                  <a:ext uri="{FF2B5EF4-FFF2-40B4-BE49-F238E27FC236}">
                    <a16:creationId xmlns:a16="http://schemas.microsoft.com/office/drawing/2014/main" id="{17C284DD-7D22-56DA-7205-68030C4E3FAC}"/>
                  </a:ext>
                </a:extLst>
              </p:cNvPr>
              <p:cNvPicPr/>
              <p:nvPr/>
            </p:nvPicPr>
            <p:blipFill>
              <a:blip r:embed="rId6"/>
              <a:stretch>
                <a:fillRect/>
              </a:stretch>
            </p:blipFill>
            <p:spPr>
              <a:xfrm>
                <a:off x="7805463" y="3950997"/>
                <a:ext cx="15552"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 name="Ink 36">
                <a:extLst>
                  <a:ext uri="{FF2B5EF4-FFF2-40B4-BE49-F238E27FC236}">
                    <a16:creationId xmlns:a16="http://schemas.microsoft.com/office/drawing/2014/main" id="{C0599D27-39B0-1392-505E-CE88C68DA22A}"/>
                  </a:ext>
                </a:extLst>
              </p14:cNvPr>
              <p14:cNvContentPartPr/>
              <p14:nvPr/>
            </p14:nvContentPartPr>
            <p14:xfrm>
              <a:off x="7465263" y="4080237"/>
              <a:ext cx="6120" cy="4320"/>
            </p14:xfrm>
          </p:contentPart>
        </mc:Choice>
        <mc:Fallback xmlns="">
          <p:pic>
            <p:nvPicPr>
              <p:cNvPr id="37" name="Ink 36">
                <a:extLst>
                  <a:ext uri="{FF2B5EF4-FFF2-40B4-BE49-F238E27FC236}">
                    <a16:creationId xmlns:a16="http://schemas.microsoft.com/office/drawing/2014/main" id="{C0599D27-39B0-1392-505E-CE88C68DA22A}"/>
                  </a:ext>
                </a:extLst>
              </p:cNvPr>
              <p:cNvPicPr/>
              <p:nvPr/>
            </p:nvPicPr>
            <p:blipFill>
              <a:blip r:embed="rId8"/>
              <a:stretch>
                <a:fillRect/>
              </a:stretch>
            </p:blipFill>
            <p:spPr>
              <a:xfrm>
                <a:off x="7456263" y="4071237"/>
                <a:ext cx="23760" cy="21960"/>
              </a:xfrm>
              <a:prstGeom prst="rect">
                <a:avLst/>
              </a:prstGeom>
            </p:spPr>
          </p:pic>
        </mc:Fallback>
      </mc:AlternateContent>
      <p:sp>
        <p:nvSpPr>
          <p:cNvPr id="6" name="TextBox 5">
            <a:extLst>
              <a:ext uri="{FF2B5EF4-FFF2-40B4-BE49-F238E27FC236}">
                <a16:creationId xmlns:a16="http://schemas.microsoft.com/office/drawing/2014/main" id="{850385AB-7551-9C5D-5903-8D95319071F1}"/>
              </a:ext>
            </a:extLst>
          </p:cNvPr>
          <p:cNvSpPr txBox="1"/>
          <p:nvPr/>
        </p:nvSpPr>
        <p:spPr>
          <a:xfrm>
            <a:off x="2024003" y="1680927"/>
            <a:ext cx="7469954" cy="3785652"/>
          </a:xfrm>
          <a:prstGeom prst="rect">
            <a:avLst/>
          </a:prstGeom>
          <a:noFill/>
        </p:spPr>
        <p:txBody>
          <a:bodyPr wrap="square">
            <a:spAutoFit/>
          </a:bodyPr>
          <a:lstStyle/>
          <a:p>
            <a:r>
              <a:rPr lang="en-US" sz="2000" b="1" dirty="0">
                <a:solidFill>
                  <a:schemeClr val="bg1"/>
                </a:solidFill>
              </a:rPr>
              <a:t>Mitigating Inflationary &amp; Reserve Volatility</a:t>
            </a:r>
          </a:p>
          <a:p>
            <a:r>
              <a:rPr lang="en-US" sz="2000" dirty="0">
                <a:solidFill>
                  <a:schemeClr val="bg1"/>
                </a:solidFill>
              </a:rPr>
              <a:t>To stabilize capital against the double squeeze of rising costs and currency devaluation, insurers can utilize:</a:t>
            </a:r>
          </a:p>
          <a:p>
            <a:pPr marL="285750" indent="-285750">
              <a:buFont typeface="Arial" panose="020B0604020202020204" pitchFamily="34" charset="0"/>
              <a:buChar char="•"/>
            </a:pPr>
            <a:r>
              <a:rPr lang="en-US" sz="2000" dirty="0">
                <a:solidFill>
                  <a:schemeClr val="bg1"/>
                </a:solidFill>
              </a:rPr>
              <a:t>Dynamic Indexing &amp; Predictive Modeling</a:t>
            </a:r>
          </a:p>
          <a:p>
            <a:pPr marL="285750" indent="-285750">
              <a:buFont typeface="Arial" panose="020B0604020202020204" pitchFamily="34" charset="0"/>
              <a:buChar char="•"/>
            </a:pPr>
            <a:r>
              <a:rPr lang="en-US" sz="2000" dirty="0">
                <a:solidFill>
                  <a:schemeClr val="bg1"/>
                </a:solidFill>
              </a:rPr>
              <a:t>Structured Retrocession</a:t>
            </a:r>
          </a:p>
          <a:p>
            <a:pPr marL="285750" indent="-285750">
              <a:buFont typeface="Arial" panose="020B0604020202020204" pitchFamily="34" charset="0"/>
              <a:buChar char="•"/>
            </a:pPr>
            <a:endParaRPr lang="en-US" sz="2000" b="1" dirty="0">
              <a:solidFill>
                <a:schemeClr val="bg1"/>
              </a:solidFill>
            </a:endParaRPr>
          </a:p>
          <a:p>
            <a:endParaRPr lang="en-GB" sz="2000" b="1" dirty="0">
              <a:solidFill>
                <a:schemeClr val="bg1"/>
              </a:solidFill>
            </a:endParaRPr>
          </a:p>
          <a:p>
            <a:r>
              <a:rPr lang="en-US" sz="2000" b="1" dirty="0">
                <a:solidFill>
                  <a:schemeClr val="bg1"/>
                </a:solidFill>
              </a:rPr>
              <a:t>Adapting to "Regulatory Islands" &amp; Trade Fragmentation</a:t>
            </a:r>
          </a:p>
          <a:p>
            <a:r>
              <a:rPr lang="en-US" sz="2000" dirty="0">
                <a:solidFill>
                  <a:schemeClr val="bg1"/>
                </a:solidFill>
              </a:rPr>
              <a:t>As supply chains become less efficient, the solution lies in ensuring the ability to operate across borders:</a:t>
            </a:r>
          </a:p>
          <a:p>
            <a:pPr marL="285750" indent="-285750">
              <a:buFont typeface="Arial" panose="020B0604020202020204" pitchFamily="34" charset="0"/>
              <a:buChar char="•"/>
            </a:pPr>
            <a:r>
              <a:rPr lang="en-US" sz="2000" dirty="0">
                <a:solidFill>
                  <a:schemeClr val="bg1"/>
                </a:solidFill>
              </a:rPr>
              <a:t>Localised Jurisdictional Frameworks</a:t>
            </a:r>
          </a:p>
          <a:p>
            <a:pPr marL="285750" indent="-285750">
              <a:buFont typeface="Arial" panose="020B0604020202020204" pitchFamily="34" charset="0"/>
              <a:buChar char="•"/>
            </a:pPr>
            <a:r>
              <a:rPr lang="en-US" sz="2000" dirty="0">
                <a:solidFill>
                  <a:schemeClr val="bg1"/>
                </a:solidFill>
              </a:rPr>
              <a:t>Strategic Trade Corridor Hedging</a:t>
            </a:r>
            <a:endParaRPr lang="en-US" sz="2000" dirty="0">
              <a:solidFill>
                <a:schemeClr val="bg1"/>
              </a:solidFill>
              <a:highlight>
                <a:srgbClr val="808000"/>
              </a:highlight>
            </a:endParaRPr>
          </a:p>
        </p:txBody>
      </p:sp>
    </p:spTree>
    <p:extLst>
      <p:ext uri="{BB962C8B-B14F-4D97-AF65-F5344CB8AC3E}">
        <p14:creationId xmlns:p14="http://schemas.microsoft.com/office/powerpoint/2010/main" val="3050276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a:extLst>
              <a:ext uri="{FF2B5EF4-FFF2-40B4-BE49-F238E27FC236}">
                <a16:creationId xmlns:a16="http://schemas.microsoft.com/office/drawing/2014/main" id="{E061723D-BB33-A428-B173-AD8474536A0D}"/>
              </a:ext>
            </a:extLst>
          </p:cNvPr>
          <p:cNvSpPr/>
          <p:nvPr/>
        </p:nvSpPr>
        <p:spPr>
          <a:xfrm rot="10800000">
            <a:off x="1011725" y="2819974"/>
            <a:ext cx="2011679" cy="2039268"/>
          </a:xfrm>
          <a:prstGeom prst="rtTriangle">
            <a:avLst/>
          </a:prstGeom>
          <a:solidFill>
            <a:srgbClr val="582156"/>
          </a:solidFill>
          <a:ln>
            <a:solidFill>
              <a:srgbClr val="5821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5BB203A7-8FF8-0D36-FDA5-CADE0CE450D3}"/>
              </a:ext>
            </a:extLst>
          </p:cNvPr>
          <p:cNvSpPr/>
          <p:nvPr/>
        </p:nvSpPr>
        <p:spPr>
          <a:xfrm>
            <a:off x="968826" y="-61144"/>
            <a:ext cx="2054578" cy="2878667"/>
          </a:xfrm>
          <a:prstGeom prst="rect">
            <a:avLst/>
          </a:prstGeom>
          <a:solidFill>
            <a:srgbClr val="582156"/>
          </a:solidFill>
          <a:ln>
            <a:solidFill>
              <a:srgbClr val="5821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3295684" y="170671"/>
            <a:ext cx="6446774" cy="702754"/>
          </a:xfrm>
        </p:spPr>
        <p:txBody>
          <a:bodyPr/>
          <a:lstStyle/>
          <a:p>
            <a:r>
              <a:rPr lang="en-GB" dirty="0"/>
              <a:t>Limitations</a:t>
            </a:r>
            <a:endParaRPr lang="en-US" dirty="0"/>
          </a:p>
        </p:txBody>
      </p:sp>
      <p:sp>
        <p:nvSpPr>
          <p:cNvPr id="8" name="Text Placeholder 7">
            <a:extLst>
              <a:ext uri="{FF2B5EF4-FFF2-40B4-BE49-F238E27FC236}">
                <a16:creationId xmlns:a16="http://schemas.microsoft.com/office/drawing/2014/main" id="{87441910-6501-5C60-C05A-BAFF34C25798}"/>
              </a:ext>
            </a:extLst>
          </p:cNvPr>
          <p:cNvSpPr>
            <a:spLocks noGrp="1"/>
          </p:cNvSpPr>
          <p:nvPr>
            <p:ph sz="half" idx="16"/>
          </p:nvPr>
        </p:nvSpPr>
        <p:spPr>
          <a:xfrm>
            <a:off x="3707997" y="1881092"/>
            <a:ext cx="7615274" cy="2978150"/>
          </a:xfrm>
        </p:spPr>
        <p:txBody>
          <a:bodyPr>
            <a:noAutofit/>
          </a:bodyPr>
          <a:lstStyle/>
          <a:p>
            <a:r>
              <a:rPr lang="en-US" sz="2000" dirty="0"/>
              <a:t>​Inaccurate Predictive Modeling</a:t>
            </a:r>
          </a:p>
          <a:p>
            <a:r>
              <a:rPr lang="en-US" sz="2000" dirty="0"/>
              <a:t>High Operational Complexity</a:t>
            </a:r>
          </a:p>
          <a:p>
            <a:r>
              <a:rPr lang="en-US" sz="2000" dirty="0"/>
              <a:t>​Capital Availability in Hard Markets</a:t>
            </a:r>
          </a:p>
          <a:p>
            <a:r>
              <a:rPr lang="en-US" sz="2000" dirty="0"/>
              <a:t>Real-term Value Loss</a:t>
            </a:r>
          </a:p>
          <a:p>
            <a:r>
              <a:rPr lang="en-US" sz="2000" dirty="0"/>
              <a:t>Ambiguity in War and Sanctions</a:t>
            </a:r>
          </a:p>
        </p:txBody>
      </p:sp>
      <p:sp>
        <p:nvSpPr>
          <p:cNvPr id="64" name="Oval 63">
            <a:extLst>
              <a:ext uri="{FF2B5EF4-FFF2-40B4-BE49-F238E27FC236}">
                <a16:creationId xmlns:a16="http://schemas.microsoft.com/office/drawing/2014/main" id="{1C668341-39BE-4448-B29D-2594AE6D75C2}"/>
              </a:ext>
              <a:ext uri="{C183D7F6-B498-43B3-948B-1728B52AA6E4}">
                <adec:decorative xmlns:adec="http://schemas.microsoft.com/office/drawing/2017/decorative" val="1"/>
              </a:ext>
            </a:extLst>
          </p:cNvPr>
          <p:cNvSpPr/>
          <p:nvPr/>
        </p:nvSpPr>
        <p:spPr>
          <a:xfrm>
            <a:off x="1901853" y="2682814"/>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B31C374B-40F2-4B1E-A9D8-6E5C932FF170}"/>
              </a:ext>
              <a:ext uri="{C183D7F6-B498-43B3-948B-1728B52AA6E4}">
                <adec:decorative xmlns:adec="http://schemas.microsoft.com/office/drawing/2017/decorative" val="1"/>
              </a:ext>
            </a:extLst>
          </p:cNvPr>
          <p:cNvCxnSpPr>
            <a:cxnSpLocks/>
          </p:cNvCxnSpPr>
          <p:nvPr/>
        </p:nvCxnSpPr>
        <p:spPr>
          <a:xfrm flipV="1">
            <a:off x="0" y="2824876"/>
            <a:ext cx="201168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Slide Number Placeholder 29">
            <a:extLst>
              <a:ext uri="{FF2B5EF4-FFF2-40B4-BE49-F238E27FC236}">
                <a16:creationId xmlns:a16="http://schemas.microsoft.com/office/drawing/2014/main" id="{32C7587B-DD64-0940-2F6D-21C5F453FAB1}"/>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984F-4AA9-AD9B-1FF5-EB5C6EC04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EF070-B062-D0BE-4438-71FD9198DFC7}"/>
              </a:ext>
            </a:extLst>
          </p:cNvPr>
          <p:cNvSpPr>
            <a:spLocks noGrp="1"/>
          </p:cNvSpPr>
          <p:nvPr>
            <p:ph type="title"/>
          </p:nvPr>
        </p:nvSpPr>
        <p:spPr/>
        <p:txBody>
          <a:bodyPr/>
          <a:lstStyle/>
          <a:p>
            <a:r>
              <a:rPr lang="en-US" dirty="0"/>
              <a:t>References</a:t>
            </a:r>
          </a:p>
        </p:txBody>
      </p:sp>
      <p:sp>
        <p:nvSpPr>
          <p:cNvPr id="6" name="Rectangle 2">
            <a:extLst>
              <a:ext uri="{FF2B5EF4-FFF2-40B4-BE49-F238E27FC236}">
                <a16:creationId xmlns:a16="http://schemas.microsoft.com/office/drawing/2014/main" id="{61B73597-7040-B888-B705-B1C16CB8043F}"/>
              </a:ext>
            </a:extLst>
          </p:cNvPr>
          <p:cNvSpPr>
            <a:spLocks noChangeArrowheads="1"/>
          </p:cNvSpPr>
          <p:nvPr/>
        </p:nvSpPr>
        <p:spPr bwMode="auto">
          <a:xfrm>
            <a:off x="1297147" y="2392750"/>
            <a:ext cx="10377393" cy="329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 WNS Perspective (2025).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Insurance and Tariffs: Modeling the Unpredictable in an Era of Global Uncertainty</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Wns.com. Available at: https://www.wns.com/perspectives/blogs/insurance-and-tariffs-modeling-the-unpredictable-in-an-era-of-global-uncertainty [Accessed 26 Feb. 2026].</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Bremmer, I. (2025).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What happens when no one’s in charge</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GZERO Media. Available at: https://www.gzeromedia.com/by-ian-bremmer/what-happens-when-no-ones-in-charge [Accessed 25 Feb. 2026].</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Global trade redefined: Insurance Dealing with tariff uncertainty. (2025).</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Johnson, D., Maaa, A., Koch, T. and Miller (2025).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Managing through economic uncertainty: 1 How to handle foreign currency volatility for (re)insurers Managing through economic uncertainty: How to handle foreign currency volatility for (re)insurers Introduction to foreign exchange (FX) impacts in insurance</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Keir Starmer lands in Beijing and says China trip ‘will bring benefits back to UK’. (n.d.).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BBC News</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Available at: https://www.bbc.co.uk/news/live/cly9p5kr2q7t.</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Lowell, M. (2026).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EU-Mercosur: Key developments shaping the trade agreement</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Trade Compliance Resource Hub. Available at: https://www.tradecomplianceresourcehub.com/2026/02/18/eu-mercosur-key-developments-shaping-the-trade-agreement/ [Accessed 25 Feb. 2026].</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World History. (2025).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History of Insurance Industry: a complete guide - World History</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Available at: https://worldhistoryjournal.com/2025/03/09/the-history-of-insurance-industry/.</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www.bing.com. (2022).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Microsoft - Search</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Available at: https://www.bing.com/ck/a?.</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www.guycarp.com. (n.d.).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Managing Reserve Risk</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Available at: https://www.guycarp.com/insights/2014/10/managing-reserve-risk.html.</a:t>
            </a:r>
            <a:endParaRPr kumimoji="0" lang="en-US" altLang="en-US" sz="8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Yousif, N. (2026). Canada’s deal with China signals it is serious about shift from US. </a:t>
            </a:r>
            <a:r>
              <a:rPr kumimoji="0" lang="en-US" altLang="en-US" sz="12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BBC News</a:t>
            </a:r>
            <a:r>
              <a:rPr kumimoji="0" lang="en-US" altLang="en-US" sz="12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[online] 16 Jan. Available at: https://www.bbc.co.uk/news/articles/cm24k6kk1rko.</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490040568"/>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7DF2E94D9202441A9C7AC94752F7CB3" ma:contentTypeVersion="11" ma:contentTypeDescription="Create a new document." ma:contentTypeScope="" ma:versionID="095af6a52b1c3208f75891725931e97c">
  <xsd:schema xmlns:xsd="http://www.w3.org/2001/XMLSchema" xmlns:xs="http://www.w3.org/2001/XMLSchema" xmlns:p="http://schemas.microsoft.com/office/2006/metadata/properties" xmlns:ns3="179a180a-0373-4e94-9476-92c40fd44cb2" targetNamespace="http://schemas.microsoft.com/office/2006/metadata/properties" ma:root="true" ma:fieldsID="6d75ed0c53f6cf39ab62b91bbbc165c6" ns3:_="">
    <xsd:import namespace="179a180a-0373-4e94-9476-92c40fd44cb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element ref="ns3:MediaServiceSystemTags" minOccurs="0"/>
                <xsd:element ref="ns3:MediaServiceLocatio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a180a-0373-4e94-9476-92c40fd44c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79a180a-0373-4e94-9476-92c40fd44cb2" xsi:nil="true"/>
  </documentManagement>
</p:properties>
</file>

<file path=customXml/itemProps1.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2.xml><?xml version="1.0" encoding="utf-8"?>
<ds:datastoreItem xmlns:ds="http://schemas.openxmlformats.org/officeDocument/2006/customXml" ds:itemID="{404B8807-0252-4AA9-9B64-6A3AA542BB8F}">
  <ds:schemaRefs>
    <ds:schemaRef ds:uri="http://schemas.microsoft.com/office/2006/metadata/contentType"/>
    <ds:schemaRef ds:uri="http://schemas.microsoft.com/office/2006/metadata/properties/metaAttributes"/>
    <ds:schemaRef ds:uri="http://www.w3.org/2000/xmlns/"/>
    <ds:schemaRef ds:uri="http://www.w3.org/2001/XMLSchema"/>
    <ds:schemaRef ds:uri="179a180a-0373-4e94-9476-92c40fd44cb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65614A-92F9-4391-AC3D-F3F5B0704F99}">
  <ds:schemaRefs>
    <ds:schemaRef ds:uri="http://purl.org/dc/dcmitype/"/>
    <ds:schemaRef ds:uri="http://schemas.microsoft.com/office/2006/documentManagement/types"/>
    <ds:schemaRef ds:uri="http://purl.org/dc/terms/"/>
    <ds:schemaRef ds:uri="http://purl.org/dc/elements/1.1/"/>
    <ds:schemaRef ds:uri="http://www.w3.org/XML/1998/namespace"/>
    <ds:schemaRef ds:uri="http://schemas.microsoft.com/office/infopath/2007/PartnerControls"/>
    <ds:schemaRef ds:uri="http://schemas.openxmlformats.org/package/2006/metadata/core-properties"/>
    <ds:schemaRef ds:uri="179a180a-0373-4e94-9476-92c40fd44cb2"/>
    <ds:schemaRef ds:uri="http://schemas.microsoft.com/office/2006/metadata/properties"/>
  </ds:schemaRefs>
</ds:datastoreItem>
</file>

<file path=docMetadata/LabelInfo.xml><?xml version="1.0" encoding="utf-8"?>
<clbl:labelList xmlns:clbl="http://schemas.microsoft.com/office/2020/mipLabelMetadata">
  <clbl:label id="{569df091-b013-40e3-86ee-bd9cb9e25814}" enabled="0" method="" siteId="{569df091-b013-40e3-86ee-bd9cb9e25814}" removed="1"/>
</clbl:labelList>
</file>

<file path=docProps/app.xml><?xml version="1.0" encoding="utf-8"?>
<Properties xmlns="http://schemas.openxmlformats.org/officeDocument/2006/extended-properties" xmlns:vt="http://schemas.openxmlformats.org/officeDocument/2006/docPropsVTypes">
  <Template>Colorful abstract pitch deck</Template>
  <TotalTime>0</TotalTime>
  <Words>1643</Words>
  <Application>Microsoft Macintosh PowerPoint</Application>
  <PresentationFormat>Widescreen</PresentationFormat>
  <Paragraphs>93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Avenir Next LT Pro</vt:lpstr>
      <vt:lpstr>Calibri</vt:lpstr>
      <vt:lpstr>Times New Roman</vt:lpstr>
      <vt:lpstr>Custom</vt:lpstr>
      <vt:lpstr>A Major development GREATLY impacting insurance IN THE NEXT DECADE</vt:lpstr>
      <vt:lpstr>Focus: The US’ contribution to inflation in insurance</vt:lpstr>
      <vt:lpstr>Introduction</vt:lpstr>
      <vt:lpstr>PowerPoint Presentation</vt:lpstr>
      <vt:lpstr>The Solution</vt:lpstr>
      <vt:lpstr>Limitations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one major global trend, such as climate change, artificial intelligence, geopolitical shifts, or another significant development, that you believe will have the greatest impact on insurance in the next decade? How should insurance companies begin preparing for this change?</dc:title>
  <dc:creator>Morgan Maurice Jordan-Ferguson</dc:creator>
  <cp:lastModifiedBy>Morgan Maurice Jordan-Ferguson</cp:lastModifiedBy>
  <cp:revision>2</cp:revision>
  <dcterms:created xsi:type="dcterms:W3CDTF">2026-02-25T21:34:23Z</dcterms:created>
  <dcterms:modified xsi:type="dcterms:W3CDTF">2026-04-10T17:30:39Z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0x010100A7DF2E94D9202441A9C7AC94752F7CB3</vt:lpwstr>
  </property>
</Properties>
</file>